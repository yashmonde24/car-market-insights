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8"/>
  </p:notesMasterIdLst>
  <p:handoutMasterIdLst>
    <p:handoutMasterId r:id="rId19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2" r:id="rId12"/>
    <p:sldId id="341" r:id="rId13"/>
    <p:sldId id="343" r:id="rId14"/>
    <p:sldId id="344" r:id="rId15"/>
    <p:sldId id="347" r:id="rId16"/>
    <p:sldId id="34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9" d="100"/>
          <a:sy n="89" d="100"/>
        </p:scale>
        <p:origin x="562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="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xmlns="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xmlns="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xmlns="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xmlns="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xmlns="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xmlns="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xmlns="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xmlns="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xmlns="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xmlns="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xmlns="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xmlns="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xmlns="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xmlns="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xmlns="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xmlns="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xmlns="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xmlns="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xmlns="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xmlns="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xmlns="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xmlns="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xmlns="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xmlns="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xmlns="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xmlns="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xmlns="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xmlns="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xmlns="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xmlns="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xmlns="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xmlns="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9/9/2026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xmlns="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xmlns="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8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ashmonde24/car-market-insight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ashmonde24/Seasonal-Agriculture-Performance-Analysi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48709" y="4402083"/>
            <a:ext cx="3717985" cy="596447"/>
          </a:xfrm>
        </p:spPr>
        <p:txBody>
          <a:bodyPr>
            <a:noAutofit/>
          </a:bodyPr>
          <a:lstStyle/>
          <a:p>
            <a:pPr algn="r"/>
            <a:r>
              <a:rPr lang="en-US" sz="11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Name : </a:t>
            </a:r>
            <a:r>
              <a:rPr lang="en-US" sz="1100" dirty="0" err="1" smtClean="0">
                <a:solidFill>
                  <a:schemeClr val="tx1"/>
                </a:solidFill>
                <a:latin typeface="Arial Black" panose="020B0A04020102020204" pitchFamily="34" charset="0"/>
              </a:rPr>
              <a:t>Yash</a:t>
            </a:r>
            <a:r>
              <a:rPr lang="en-US" sz="11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 Sanjay Monde </a:t>
            </a:r>
          </a:p>
          <a:p>
            <a:pPr algn="r"/>
            <a:r>
              <a:rPr lang="en-IN" sz="1100" dirty="0" err="1" smtClean="0">
                <a:solidFill>
                  <a:schemeClr val="tx1"/>
                </a:solidFill>
                <a:latin typeface="Arial Black" panose="020B0A04020102020204" pitchFamily="34" charset="0"/>
              </a:rPr>
              <a:t>Aicte</a:t>
            </a:r>
            <a:r>
              <a:rPr lang="en-IN" sz="11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 ID : STU69f055805a3e71777358208</a:t>
            </a:r>
            <a:endParaRPr lang="en-IN" sz="11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991" y="2788944"/>
            <a:ext cx="5391508" cy="1613139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Car Market Insights</a:t>
            </a:r>
            <a:endParaRPr lang="en-IN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77705" y="3410848"/>
            <a:ext cx="67889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What Makes a Used Car Worth More?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0853" y="2948418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754602" y="2359390"/>
            <a:ext cx="771653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Challenge: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Used car prices depend on age,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mileage,fuel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type, ownership, and seller type, but listings are rarely priced consistently.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Question: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Which car features actually drive resale prices and which ones do not?</a:t>
            </a:r>
          </a:p>
        </p:txBody>
      </p:sp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1101225"/>
          </a:xfrm>
        </p:spPr>
        <p:txBody>
          <a:bodyPr>
            <a:normAutofit fontScale="90000"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2C3C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Overview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I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820379" y="2588099"/>
            <a:ext cx="868592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CarDekho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used-car listings (299 clean records after removing duplicates).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Quality: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Complete dataset with zero missing values across all columns.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Columns: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Car Name, Year, Selling Price, Present Price,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Kms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Driven, Fuel Type, Seller Type, Transmission, and Owner.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261" y="921199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3" name="Rectangle 1"/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721359" y="2024377"/>
            <a:ext cx="8534784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Used-car buyers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Benchmark whether an asking price is fair given age, mileage and ownership history.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Individual sellers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 realistic prices instead of anchoring on original purchase price.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Dealerships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Use fuel type, ownership tier and mileage bucket as pricing levers when acquiring/reselling stock.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Online marketplaces (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e.g</a:t>
            </a:r>
            <a:r>
              <a:rPr lang="en-US" altLang="en-US" sz="1800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CarDekho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-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Feed these variables into an automated valuation/pricing model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Analysts/data teams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 reference EDA for a resale-value prediction model (features and correlations already scoped). 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xmlns="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 smtClean="0"/>
              <a:t>Technology Used</a:t>
            </a:r>
            <a:endParaRPr lang="en-US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810883" y="2116687"/>
            <a:ext cx="7359707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loading, cleaning, and manipulation.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Matplotlib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Seaborn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visualization and chart generation.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Microsoft PowerPoint: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Reporting and presentation of key insights.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6" y="370589"/>
            <a:ext cx="7976337" cy="830997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Selling Price Distribution</a:t>
            </a:r>
            <a:endParaRPr lang="en-US" sz="32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xmlns="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xmlns="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389" y="1154392"/>
            <a:ext cx="8248609" cy="342623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981" y="4767601"/>
            <a:ext cx="8012135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Most cars are affordable: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The majority of cars sell in the ₹0–5 Lakh range.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Averages can be misleading: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The average price (₹4.66L) is pulled up by a few high-value listings.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Key takeaway: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Use the median price (₹3.60L) as a realistic benchmark for typical car pricing.</a:t>
            </a:r>
          </a:p>
          <a:p>
            <a:endParaRPr lang="en-IN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807164" y="112138"/>
            <a:ext cx="1582353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/>
              <a:t>Finding No -1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8225"/>
            <a:ext cx="8752715" cy="873782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Depreciation Trend by Car </a:t>
            </a:r>
            <a:r>
              <a:rPr lang="en-US" sz="3200" dirty="0" smtClean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 and Transmission</a:t>
            </a:r>
            <a:endParaRPr lang="en-US" sz="32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xmlns="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xmlns="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82" y="1201587"/>
            <a:ext cx="4138876" cy="33531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7164" y="112138"/>
            <a:ext cx="1582353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/>
              <a:t>Finding No -2</a:t>
            </a:r>
            <a:endParaRPr lang="en-IN" sz="1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3748" y="1201587"/>
            <a:ext cx="4456736" cy="3426944"/>
          </a:xfrm>
          <a:prstGeom prst="rect">
            <a:avLst/>
          </a:prstGeom>
        </p:spPr>
      </p:pic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422959" y="4653608"/>
            <a:ext cx="8721969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Steep Early Price Drop: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Car prices decline sharply from age 8 to 15, dropping from ~9.8L down to under 3L.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Automatic Premium: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Automatic cars retain significantly higher market values than manual cars up to 14 years of age.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Convergence After 15 Years: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Beyond 15 years, the price gap between automatic and manual models disappears, and values fluctuate due to fewer listings.</a:t>
            </a:r>
          </a:p>
        </p:txBody>
      </p:sp>
    </p:spTree>
    <p:extLst>
      <p:ext uri="{BB962C8B-B14F-4D97-AF65-F5344CB8AC3E}">
        <p14:creationId xmlns:p14="http://schemas.microsoft.com/office/powerpoint/2010/main" val="3297894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434408"/>
            <a:ext cx="8545553" cy="830997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Fuel Type &amp;</a:t>
            </a:r>
            <a:r>
              <a:rPr lang="en-US" sz="3200" dirty="0" smtClean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Transmission </a:t>
            </a:r>
            <a:r>
              <a:rPr lang="en-US" sz="320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Premium</a:t>
            </a:r>
            <a:endParaRPr lang="en-US" sz="32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xmlns="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xmlns="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2302" y="928112"/>
            <a:ext cx="4234226" cy="36048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873" y="928111"/>
            <a:ext cx="4766338" cy="360481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75957" y="4639033"/>
            <a:ext cx="815555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Diesel commands a higher price: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Diesel cars sell for more than double the price of Petrol and CNG models (~₹6.9L vs ~₹3.0L).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Automatics cost more: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Automatic transmissions add an extra value premium over manual options.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Key takeaway: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Fuel type and transmission are major drivers of higher selling prices.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7164" y="112138"/>
            <a:ext cx="1582353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/>
              <a:t>Finding No -3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140597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666451" cy="830997"/>
          </a:xfrm>
        </p:spPr>
        <p:txBody>
          <a:bodyPr>
            <a:noAutofit/>
          </a:bodyPr>
          <a:lstStyle/>
          <a:p>
            <a:r>
              <a:rPr lang="en-US" sz="320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Mileage: A Weaker Predictor Than Expected</a:t>
            </a:r>
            <a:endParaRPr lang="en-US" sz="32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xmlns="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xmlns="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422959" y="4743449"/>
            <a:ext cx="822309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Total </a:t>
            </a:r>
            <a:r>
              <a:rPr lang="en-IN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kilometers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 don't tell the whole story: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Raw mileage alone does not cause a direct, straight-line price drop.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Price drops happen in brackets: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Significant depreciation occurs once a car crosses key mileage thresholds, especially between 75k–100k km.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Key takeaway: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Grouping mileage into ranges is a safer way to evaluate value loss.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49" y="1078302"/>
            <a:ext cx="4935653" cy="368132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147" y="1078302"/>
            <a:ext cx="4730151" cy="368132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7164" y="112138"/>
            <a:ext cx="1582353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/>
              <a:t>Finding No - 4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307075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00" y="370589"/>
            <a:ext cx="7607085" cy="830997"/>
          </a:xfrm>
        </p:spPr>
        <p:txBody>
          <a:bodyPr>
            <a:noAutofit/>
          </a:bodyPr>
          <a:lstStyle/>
          <a:p>
            <a:r>
              <a:rPr lang="en-US" sz="320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Ownership History &amp; Seller Type</a:t>
            </a:r>
            <a:endParaRPr lang="en-US" sz="32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xmlns="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xmlns="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320982" y="4583281"/>
            <a:ext cx="897849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First-owner cars hold better value: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Cars with zero previous transfers sell for noticeably higher prices than multi-owner cars.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Dealers list higher-value cars: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Dealers average much higher selling prices (₹4.98L) compared to individual sellers (₹0.51L).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Key takeaway: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Dealers tend to stock newer, premium inventory rather than simply charging higher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markups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44" y="913889"/>
            <a:ext cx="4968815" cy="379599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315" y="913889"/>
            <a:ext cx="4632385" cy="379599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7164" y="112138"/>
            <a:ext cx="1582353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/>
              <a:t>Finding No - 5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857813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114360" cy="830997"/>
          </a:xfrm>
        </p:spPr>
        <p:txBody>
          <a:bodyPr>
            <a:noAutofit/>
          </a:bodyPr>
          <a:lstStyle/>
          <a:p>
            <a:r>
              <a:rPr lang="en-US" sz="320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Actually </a:t>
            </a:r>
            <a:r>
              <a:rPr lang="en-US" sz="3200" dirty="0" smtClean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Correlates </a:t>
            </a:r>
            <a:r>
              <a:rPr lang="en-US" sz="320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Price</a:t>
            </a:r>
            <a:endParaRPr lang="en-US" sz="32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xmlns="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32" y="1059931"/>
            <a:ext cx="8355900" cy="408886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763774" y="17166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38" name="TextBox 37"/>
          <p:cNvSpPr txBox="1"/>
          <p:nvPr/>
        </p:nvSpPr>
        <p:spPr>
          <a:xfrm>
            <a:off x="807164" y="112138"/>
            <a:ext cx="1582353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/>
              <a:t>Finding No - 5</a:t>
            </a:r>
            <a:endParaRPr lang="en-IN" sz="1400" dirty="0"/>
          </a:p>
        </p:txBody>
      </p:sp>
      <p:sp>
        <p:nvSpPr>
          <p:cNvPr id="15" name="Rectangle 14"/>
          <p:cNvSpPr/>
          <p:nvPr/>
        </p:nvSpPr>
        <p:spPr>
          <a:xfrm>
            <a:off x="346570" y="4782443"/>
            <a:ext cx="858515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altLang="en-US" sz="16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Original price is the biggest factor:</a:t>
            </a:r>
            <a:r>
              <a:rPr lang="en-US" altLang="en-US" sz="1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The original new price (</a:t>
            </a:r>
            <a:r>
              <a:rPr lang="en-US" altLang="en-US" sz="1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Present_Price</a:t>
            </a:r>
            <a:r>
              <a:rPr lang="en-US" altLang="en-US" sz="1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is the strongest indicator of a car's used value (0.80 correlation).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altLang="en-US" sz="16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Mileage affects percentage loss:</a:t>
            </a:r>
            <a:r>
              <a:rPr lang="en-US" altLang="en-US" sz="1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Kilometers driven better predict the </a:t>
            </a:r>
            <a:r>
              <a:rPr lang="en-US" altLang="en-US" sz="1600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percentage</a:t>
            </a:r>
            <a:r>
              <a:rPr lang="en-US" altLang="en-US" sz="1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of value lost rather than the raw selling price.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altLang="en-US" sz="16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Key takeaway:</a:t>
            </a:r>
            <a:r>
              <a:rPr lang="en-US" altLang="en-US" sz="1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Start with the car's original brand/new price to determine its base resale 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4161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276683" y="1284989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Rectangle 5"/>
          <p:cNvSpPr/>
          <p:nvPr/>
        </p:nvSpPr>
        <p:spPr>
          <a:xfrm>
            <a:off x="320983" y="287186"/>
            <a:ext cx="3871456" cy="914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320982" y="1586647"/>
            <a:ext cx="720239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Project Repository &amp; Source 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Code :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All code files, clean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datasets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and analysis notebooks for this project are completely open-source and hosted on GitHub.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Repository Link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Url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</a:t>
            </a:r>
            <a:r>
              <a:rPr lang="en-US" sz="16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github.com/yashmonde24/car-market-insights</a:t>
            </a:r>
            <a:endParaRPr lang="en-US" sz="1600" dirty="0" smtClean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What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You Will Find in the Repository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python/ 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Source code and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Jupyter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notebooks for data cleaning,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EDA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and generating visualization charts.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docs/ :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A clean, presentation-ready slide deck outlining our main findings and recommendations for non-technical </a:t>
            </a: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stakeholders.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data/ : </a:t>
            </a:r>
            <a:r>
              <a:rPr lang="en-US" sz="1600" dirty="0" err="1"/>
              <a:t>CarDekho</a:t>
            </a:r>
            <a:r>
              <a:rPr lang="en-US" sz="1600" dirty="0"/>
              <a:t> used-car dataset used for performing the analysis.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README.md : A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detailed, step-by-step project guide featuring the exact visual charts and actionable recommendations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shown.</a:t>
            </a:r>
            <a:endParaRPr lang="en-IN" sz="16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006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15190" y="735947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xmlns="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xmlns="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xmlns="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xmlns="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xmlns="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xmlns="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xmlns="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5337" y="2058234"/>
            <a:ext cx="7306026" cy="3229757"/>
          </a:xfrm>
        </p:spPr>
        <p:txBody>
          <a:bodyPr>
            <a:noAutofit/>
          </a:bodyPr>
          <a:lstStyle/>
          <a:p>
            <a:r>
              <a:rPr lang="en-IN" sz="3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 Market Insights</a:t>
            </a:r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Makes a Used Car Worth More?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1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Any Questions ?</a:t>
            </a:r>
            <a:r>
              <a:rPr lang="en-US" sz="14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4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="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Feel free to share your thoughts, </a:t>
            </a:r>
            <a:r>
              <a:rPr lang="en-US" sz="1400" b="0" i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feedback or </a:t>
            </a:r>
            <a:r>
              <a:rPr lang="en-US" sz="1400" b="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 regarding the data </a:t>
            </a:r>
            <a:r>
              <a:rPr lang="en-US" sz="1400" b="0" i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insights.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1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Presenter </a:t>
            </a: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</a:t>
            </a:r>
            <a:r>
              <a:rPr lang="en-US" sz="1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 :</a:t>
            </a:r>
            <a:endParaRPr lang="en-US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 :</a:t>
            </a:r>
            <a:r>
              <a:rPr lang="en-US" b="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Yash</a:t>
            </a:r>
            <a:r>
              <a:rPr lang="en-US" b="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Sanjay Monde</a:t>
            </a:r>
            <a:endParaRPr lang="en-US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 :</a:t>
            </a:r>
            <a:r>
              <a:rPr lang="en-US" b="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realyashmonde956@gmail.com</a:t>
            </a:r>
            <a:endParaRPr lang="en-US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 / 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Portfolio : </a:t>
            </a:r>
            <a:r>
              <a:rPr lang="en-US" b="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</a:t>
            </a:r>
            <a:r>
              <a:rPr lang="en-US" sz="1800" b="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github.com/yashmonde24</a:t>
            </a:r>
            <a:endParaRPr lang="en-US" sz="18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14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IN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819082" y="659424"/>
            <a:ext cx="3871456" cy="914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787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739</TotalTime>
  <Words>804</Words>
  <Application>Microsoft Office PowerPoint</Application>
  <PresentationFormat>Widescreen</PresentationFormat>
  <Paragraphs>78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Arial Black</vt:lpstr>
      <vt:lpstr>Calibri</vt:lpstr>
      <vt:lpstr>Times New Roman</vt:lpstr>
      <vt:lpstr>Trebuchet MS</vt:lpstr>
      <vt:lpstr>Wingdings</vt:lpstr>
      <vt:lpstr>Wingdings 3</vt:lpstr>
      <vt:lpstr>Facet</vt:lpstr>
      <vt:lpstr>Car Market Insights</vt:lpstr>
      <vt:lpstr>PROBLEM  STATEMENT</vt:lpstr>
      <vt:lpstr>Dataset Overview  </vt:lpstr>
      <vt:lpstr>WHO ARE THE END USERS?</vt:lpstr>
      <vt:lpstr>Technology Used</vt:lpstr>
      <vt:lpstr>Selling Price Distribution</vt:lpstr>
      <vt:lpstr>Depreciation Trend by Car Age and Transmission</vt:lpstr>
      <vt:lpstr>Fuel Type &amp;Transmission Premium</vt:lpstr>
      <vt:lpstr>Mileage: A Weaker Predictor Than Expected</vt:lpstr>
      <vt:lpstr>Ownership History &amp; Seller Type</vt:lpstr>
      <vt:lpstr>What Actually Correlates with Price</vt:lpstr>
      <vt:lpstr>GitHub Link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Microsoft account</cp:lastModifiedBy>
  <cp:revision>96</cp:revision>
  <dcterms:created xsi:type="dcterms:W3CDTF">2021-07-11T13:13:15Z</dcterms:created>
  <dcterms:modified xsi:type="dcterms:W3CDTF">2026-09-09T13:28:07Z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